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art.png"/>
          <p:cNvPicPr>
            <a:picLocks noChangeAspect="1"/>
          </p:cNvPicPr>
          <p:nvPr/>
        </p:nvPicPr>
        <p:blipFill>
          <a:blip r:embed="rId2"/>
          <a:srcRect t="4999" b="4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2743200" cy="365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88920"/>
            <a:ext cx="84124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6200" b="1" lang="he-IL" rtl="0">
                <a:solidFill>
                  <a:srgbClr val="F0F0E9"/>
                </a:solidFill>
                <a:latin typeface="Menlo"/>
              </a:rPr>
              <a:t>LOW / 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740664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700" b="1" lang="he-IL" rtl="1">
                <a:solidFill>
                  <a:srgbClr val="D8FA55"/>
                </a:solidFill>
                <a:latin typeface="Arial"/>
              </a:rPr>
              <a:t>שלושה עולמות. Hub אחד.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36008"/>
            <a:ext cx="6583680" cy="6858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 lang="he-IL" rtl="1">
                <a:solidFill>
                  <a:srgbClr val="B4B9B1"/>
                </a:solidFill>
                <a:latin typeface="Arial"/>
              </a:rPr>
              <a:t>משחקים תלת־ממדיים בדפדפן, נבנו בקוד ורצים מיד.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658368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0" lang="he-IL" rtl="0">
                <a:solidFill>
                  <a:srgbClr val="B4B9B1"/>
                </a:solidFill>
                <a:latin typeface="Menlo"/>
              </a:rPr>
              <a:t>מעבדת משחקים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המקור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02 / 13</a:t>
            </a:r>
          </a:p>
        </p:txBody>
      </p:sp>
      <p:pic>
        <p:nvPicPr>
          <p:cNvPr id="7" name="Picture 6" descr="hub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המשחק הוא מערכת של חלקים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הסרטון מציג משחק דפדפן שחובר ממודלים, טקסטורות, ממשק, סאונד וקוד. אחר כך מגיעים בדיקת צילום, פרסום ומשוב מהשחקן.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650992"/>
            <a:ext cx="4389120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B4B9B1"/>
                </a:solidFill>
                <a:latin typeface="Menlo"/>
              </a:rPr>
              <a:t>Yuval Avidani · סרטון בעברית · 15 דקות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שיטת העבודה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188720"/>
            <a:ext cx="457200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600" b="1" lang="he-IL" rtl="1">
                <a:solidFill>
                  <a:srgbClr val="F0F0E9"/>
                </a:solidFill>
                <a:latin typeface="Arial"/>
              </a:rPr>
              <a:t>מפרויקט למשחק שאפשר לשחק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31720"/>
            <a:ext cx="438912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 lang="he-IL" rtl="1">
                <a:solidFill>
                  <a:srgbClr val="B4B9B1"/>
                </a:solidFill>
                <a:latin typeface="Arial"/>
              </a:rPr>
              <a:t>ארבע תחנות שמחברות את הדמו לכתובת חיה.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3273552"/>
            <a:ext cx="2615184" cy="23134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3447288"/>
            <a:ext cx="2240280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 lang="he-IL" rtl="0">
                <a:solidFill>
                  <a:srgbClr val="D8FA55"/>
                </a:solidFill>
                <a:latin typeface="Menl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959352"/>
            <a:ext cx="224028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000" b="1" lang="he-IL" rtl="1">
                <a:solidFill>
                  <a:srgbClr val="F0F0E9"/>
                </a:solidFill>
                <a:latin typeface="Arial"/>
              </a:rPr>
              <a:t>ממפים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517136"/>
            <a:ext cx="2240280" cy="8229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0" lang="he-IL" rtl="1">
                <a:solidFill>
                  <a:srgbClr val="B4B9B1"/>
                </a:solidFill>
                <a:latin typeface="Arial"/>
              </a:rPr>
              <a:t>עולם, חוקים, נכסים ותיקיות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79" y="3273552"/>
            <a:ext cx="2615184" cy="23134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447288"/>
            <a:ext cx="2240280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 lang="he-IL" rtl="0">
                <a:solidFill>
                  <a:srgbClr val="D8FA55"/>
                </a:solidFill>
                <a:latin typeface="Menl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959352"/>
            <a:ext cx="224028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000" b="1" lang="he-IL" rtl="1">
                <a:solidFill>
                  <a:srgbClr val="F0F0E9"/>
                </a:solidFill>
                <a:latin typeface="Arial"/>
              </a:rPr>
              <a:t>מחברים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517136"/>
            <a:ext cx="2240280" cy="8229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0" lang="he-IL" rtl="1">
                <a:solidFill>
                  <a:srgbClr val="B4B9B1"/>
                </a:solidFill>
                <a:latin typeface="Arial"/>
              </a:rPr>
              <a:t>סצנה, בקרה, HUD וסאונד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73552"/>
            <a:ext cx="2615184" cy="23134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3447288"/>
            <a:ext cx="2240280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 lang="he-IL" rtl="0">
                <a:solidFill>
                  <a:srgbClr val="D8FA55"/>
                </a:solidFill>
                <a:latin typeface="Menl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3959352"/>
            <a:ext cx="224028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000" b="1" lang="he-IL" rtl="1">
                <a:solidFill>
                  <a:srgbClr val="F0F0E9"/>
                </a:solidFill>
                <a:latin typeface="Arial"/>
              </a:rPr>
              <a:t>בודקים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517136"/>
            <a:ext cx="2240280" cy="8229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0" lang="he-IL" rtl="1">
                <a:solidFill>
                  <a:srgbClr val="B4B9B1"/>
                </a:solidFill>
                <a:latin typeface="Arial"/>
              </a:rPr>
              <a:t>משחקים, מצלמים ובודקים מסכים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3273552"/>
            <a:ext cx="2615184" cy="23134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3447288"/>
            <a:ext cx="2240280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 lang="he-IL" rtl="0">
                <a:solidFill>
                  <a:srgbClr val="D8FA55"/>
                </a:solidFill>
                <a:latin typeface="Menl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959352"/>
            <a:ext cx="224028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000" b="1" lang="he-IL" rtl="1">
                <a:solidFill>
                  <a:srgbClr val="F0F0E9"/>
                </a:solidFill>
                <a:latin typeface="Arial"/>
              </a:rPr>
              <a:t>מפרסמים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4517136"/>
            <a:ext cx="2240280" cy="8229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0" lang="he-IL" rtl="1">
                <a:solidFill>
                  <a:srgbClr val="B4B9B1"/>
                </a:solidFill>
                <a:latin typeface="Arial"/>
              </a:rPr>
              <a:t>רק אחרי בדיקת הכתובת החיה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ארכיטקטורה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04 / 13</a:t>
            </a:r>
          </a:p>
        </p:txBody>
      </p:sp>
      <p:pic>
        <p:nvPicPr>
          <p:cNvPr id="7" name="Picture 6" descr="orbit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כל נכס מקבל מקום ותפקיד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העיר, הדמות, הטקסטורות, ממשק המשתמש והצלילים יושבים בתיקיות ברורות. כל משחק מקבל סצנה, מטרה ובקר משלו; ה־hub מחבר ביניהם.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212080"/>
            <a:ext cx="4389120" cy="5943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100" b="0" lang="he-IL" rtl="1">
                <a:solidFill>
                  <a:srgbClr val="D8FA55"/>
                </a:solidFill>
                <a:latin typeface="Arial"/>
              </a:rPr>
              <a:t>עולם   ·   מודלים   ·   טקסטורות   ·   HUD   ·   סאונד   ·   קוד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עולם 01 · טיסה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05 / 13</a:t>
            </a:r>
          </a:p>
        </p:txBody>
      </p:sp>
      <p:pic>
        <p:nvPicPr>
          <p:cNvPr id="7" name="Picture 6" descr="flight-scene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קו הרקיע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8056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 lang="he-IL" rtl="1">
                <a:solidFill>
                  <a:srgbClr val="D8FA55"/>
                </a:solidFill>
                <a:latin typeface="Arial"/>
              </a:rPr>
              <a:t>מסלול עירוני לאיסוף טבעות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3364992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הרחפן טס קדימה בין מגדלים. השחקן משנה גובה וכיוון, אוסף 12 טבעות ונמנע ממכשולים.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5084064"/>
            <a:ext cx="4370832" cy="4846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5129784"/>
            <a:ext cx="4069080" cy="365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 lang="he-IL" rtl="1">
                <a:solidFill>
                  <a:srgbClr val="8DF6EE"/>
                </a:solidFill>
                <a:latin typeface="Menlo"/>
              </a:rPr>
              <a:t>WASD או חצים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עולם 02 · מסלול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06 / 13</a:t>
            </a:r>
          </a:p>
        </p:txBody>
      </p:sp>
      <p:pic>
        <p:nvPicPr>
          <p:cNvPr id="7" name="Picture 6" descr="orbit-scene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המסלול האחרון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8056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 lang="he-IL" rtl="1">
                <a:solidFill>
                  <a:srgbClr val="D8FA55"/>
                </a:solidFill>
                <a:latin typeface="Arial"/>
              </a:rPr>
              <a:t>לכוון רדיוס. לפגוש אור.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3364992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החללית נעה סביב כוכב לכת. השחקן מכוון את הרדיוס והגובה כדי לאסוף עשרה שברי אור.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5084064"/>
            <a:ext cx="4370832" cy="4846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5129784"/>
            <a:ext cx="4069080" cy="365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 lang="he-IL" rtl="1">
                <a:solidFill>
                  <a:srgbClr val="8DF6EE"/>
                </a:solidFill>
                <a:latin typeface="Menlo"/>
              </a:rPr>
              <a:t>A / D רדיוס · W / S גובה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עולם 03 · בימוי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07 / 13</a:t>
            </a:r>
          </a:p>
        </p:txBody>
      </p:sp>
      <p:pic>
        <p:nvPicPr>
          <p:cNvPr id="7" name="Picture 6" descr="camera-scene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במאי התנועה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8056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 lang="he-IL" rtl="1">
                <a:solidFill>
                  <a:srgbClr val="D8FA55"/>
                </a:solidFill>
                <a:latin typeface="Arial"/>
              </a:rPr>
              <a:t>תכנן פריים. לחץ צילום.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3364992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שלושה יעדי קומפוזיציה מלמדים מרחק, זווית ומיקום. הניקוד נמדד מול מרכז וגודל הפריים.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5084064"/>
            <a:ext cx="4370832" cy="484632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5129784"/>
            <a:ext cx="4069080" cy="365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 lang="he-IL" rtl="1">
                <a:solidFill>
                  <a:srgbClr val="8DF6EE"/>
                </a:solidFill>
                <a:latin typeface="Menlo"/>
              </a:rPr>
              <a:t>A / D סיבוב · W / S מרחק · Space צילום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ה־hub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08 / 13</a:t>
            </a:r>
          </a:p>
        </p:txBody>
      </p:sp>
      <p:pic>
        <p:nvPicPr>
          <p:cNvPr id="7" name="Picture 6" descr="hub.png"/>
          <p:cNvPicPr>
            <a:picLocks noChangeAspect="1"/>
          </p:cNvPicPr>
          <p:nvPr/>
        </p:nvPicPr>
        <p:blipFill>
          <a:blip r:embed="rId2"/>
          <a:srcRect l="10417" r="10417"/>
          <a:stretch>
            <a:fillRect/>
          </a:stretch>
        </p:blipFill>
        <p:spPr>
          <a:xfrm>
            <a:off x="576072" y="1207008"/>
            <a:ext cx="60807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1417320"/>
            <a:ext cx="4526280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300" b="1" lang="he-IL" rtl="1">
                <a:solidFill>
                  <a:srgbClr val="F0F0E9"/>
                </a:solidFill>
                <a:latin typeface="Arial"/>
              </a:rPr>
              <a:t>עוברים בין שלושה משחקים בלי לצאת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697480"/>
            <a:ext cx="4434840" cy="15087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כרטיס פותח עולם. פס התקדמות, ניקוד, טיימר ורמזי מקשים נשארים ברורים. Escape מחזיר לתפריט; במובייל מופיעים כפתורי מגע.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212080"/>
            <a:ext cx="4389120" cy="5943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100" b="0" lang="he-IL" rtl="1">
                <a:solidFill>
                  <a:srgbClr val="D8FA55"/>
                </a:solidFill>
                <a:latin typeface="Arial"/>
              </a:rPr>
              <a:t>שלוש סצנות   ·   קלט אחיד   ·   תפריט חזרה   ·   התאמה למגע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ערכת הסקילים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572000" cy="10972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600" b="1" lang="he-IL" rtl="1">
                <a:solidFill>
                  <a:srgbClr val="F0F0E9"/>
                </a:solidFill>
                <a:latin typeface="Arial"/>
              </a:rPr>
              <a:t>שלושה סקילים. גבול עבודה ברור.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743200"/>
            <a:ext cx="3520440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907792"/>
            <a:ext cx="3136392" cy="42976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300" b="1" lang="he-IL" rtl="0">
                <a:solidFill>
                  <a:srgbClr val="D8FA55"/>
                </a:solidFill>
                <a:latin typeface="Menlo"/>
              </a:rPr>
              <a:t>multi-game-hub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74720"/>
            <a:ext cx="3108960" cy="60350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0" lang="he-IL" rtl="1">
                <a:solidFill>
                  <a:srgbClr val="B4B9B1"/>
                </a:solidFill>
                <a:latin typeface="Arial"/>
              </a:rPr>
              <a:t>חיבור משחקים שונים לממשק אחד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2743200"/>
            <a:ext cx="3520440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907792"/>
            <a:ext cx="3136392" cy="42976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300" b="1" lang="he-IL" rtl="0">
                <a:solidFill>
                  <a:srgbClr val="D8FA55"/>
                </a:solidFill>
                <a:latin typeface="Menlo"/>
              </a:rPr>
              <a:t>camera-move-challenge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474720"/>
            <a:ext cx="3108960" cy="60350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0" lang="he-IL" rtl="1">
                <a:solidFill>
                  <a:srgbClr val="B4B9B1"/>
                </a:solidFill>
                <a:latin typeface="Arial"/>
              </a:rPr>
              <a:t>משחק ניקוד על תנועת מצלמה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743200"/>
            <a:ext cx="3520440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907792"/>
            <a:ext cx="3136392" cy="42976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300" b="1" lang="he-IL" rtl="0">
                <a:solidFill>
                  <a:srgbClr val="D8FA55"/>
                </a:solidFill>
                <a:latin typeface="Menlo"/>
              </a:rPr>
              <a:t>game-deck-exporter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474720"/>
            <a:ext cx="3108960" cy="60350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0" lang="he-IL" rtl="1">
                <a:solidFill>
                  <a:srgbClr val="B4B9B1"/>
                </a:solidFill>
                <a:latin typeface="Arial"/>
              </a:rPr>
              <a:t>HTML, PDF ו־PPTX עם הוכחות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 lang="he-IL" rtl="1">
                <a:solidFill>
                  <a:srgbClr val="F0F0E9"/>
                </a:solidFill>
                <a:latin typeface="Arial"/>
              </a:rPr>
              <a:t>משחק יחיד, דמויות, עיר, נכסים ופרסום נשארים בזרימת code3d.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בדיקות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225296"/>
            <a:ext cx="4572000" cy="8686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600" b="1" lang="he-IL" rtl="1">
                <a:solidFill>
                  <a:srgbClr val="F0F0E9"/>
                </a:solidFill>
                <a:latin typeface="Arial"/>
              </a:rPr>
              <a:t>הוכחה מתוך הריצה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2596896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286000" cy="71323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3600" b="1" lang="he-IL" rtl="0">
                <a:solidFill>
                  <a:srgbClr val="D8FA55"/>
                </a:solidFill>
                <a:latin typeface="Menl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38144"/>
            <a:ext cx="228600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B4B9B1"/>
                </a:solidFill>
                <a:latin typeface="Arial"/>
              </a:rPr>
              <a:t>סצנות משחק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2487168"/>
            <a:ext cx="2596896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651760"/>
            <a:ext cx="2286000" cy="71323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3600" b="1" lang="he-IL" rtl="0">
                <a:solidFill>
                  <a:srgbClr val="D8FA55"/>
                </a:solidFill>
                <a:latin typeface="Menlo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438144"/>
            <a:ext cx="228600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B4B9B1"/>
                </a:solidFill>
                <a:latin typeface="Arial"/>
              </a:rPr>
              <a:t>שגיאות דפדפן בריצת צילום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2487168"/>
            <a:ext cx="2596896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2286000" cy="71323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3600" b="1" lang="he-IL" rtl="0">
                <a:solidFill>
                  <a:srgbClr val="D8FA55"/>
                </a:solidFill>
                <a:latin typeface="Menlo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438144"/>
            <a:ext cx="228600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B4B9B1"/>
                </a:solidFill>
                <a:latin typeface="Arial"/>
              </a:rPr>
              <a:t>שקופיות בחבילת המצגת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2487168"/>
            <a:ext cx="2596896" cy="164592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2651760"/>
            <a:ext cx="2286000" cy="71323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3600" b="1" lang="he-IL" rtl="0">
                <a:solidFill>
                  <a:srgbClr val="D8FA55"/>
                </a:solidFill>
                <a:latin typeface="Menl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438144"/>
            <a:ext cx="228600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B4B9B1"/>
                </a:solidFill>
                <a:latin typeface="Arial"/>
              </a:rPr>
              <a:t>מפתחות שירות במשחק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10241280" cy="67665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0" lang="he-IL" rtl="1">
                <a:solidFill>
                  <a:srgbClr val="F0F0E9"/>
                </a:solidFill>
                <a:latin typeface="Arial"/>
              </a:rPr>
              <a:t>כל מספר בדוח נשען על קוד, צילום או פלט בדיקה שנשמר בפרויקט.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שער שחרור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143000"/>
            <a:ext cx="4480560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600" b="1" lang="he-IL" rtl="1">
                <a:solidFill>
                  <a:srgbClr val="F0F0E9"/>
                </a:solidFill>
                <a:latin typeface="Arial"/>
              </a:rPr>
              <a:t>לפני שמוסרים קישור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423160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2392" y="2514600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כל כרטיס פותח משחק ומטרה ברורה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1" y="2423160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232" y="2514600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496312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Escape ופקדי המגע מחזירים למסלול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355848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3447288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צילומי מסך עדכניים לכל עולם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1" y="3355848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232" y="3447288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429000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בדיקת כתובת חיה וממשק במובייל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288536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4379975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361688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אין מפתח שירות בתוך קבצי הפרסום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4288536"/>
            <a:ext cx="5266944" cy="704088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00232" y="4379975"/>
            <a:ext cx="274320" cy="47548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 rtl="0">
              <a:lnSpc>
                <a:spcPct val="112000"/>
              </a:lnSpc>
              <a:spcAft>
                <a:spcPts val="400"/>
              </a:spcAft>
            </a:pPr>
            <a:r>
              <a:rPr sz="1600" b="1" lang="he-IL" rtl="0">
                <a:solidFill>
                  <a:srgbClr val="D8FA55"/>
                </a:solidFill>
                <a:latin typeface="Menl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361688"/>
            <a:ext cx="4434840" cy="521207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0" lang="he-IL" rtl="1">
                <a:solidFill>
                  <a:srgbClr val="F0F0E9"/>
                </a:solidFill>
                <a:latin typeface="Arial"/>
              </a:rPr>
              <a:t>repo, דמו ותאריך נרשמו במסמך העולם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פרסום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80160"/>
            <a:ext cx="4572000" cy="10972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900" b="1" lang="he-IL" rtl="1">
                <a:solidFill>
                  <a:srgbClr val="F0F0E9"/>
                </a:solidFill>
                <a:latin typeface="Arial"/>
              </a:rPr>
              <a:t>המשחקים במקום אחד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651760"/>
            <a:ext cx="4389120" cy="10972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0" lang="he-IL" rtl="1">
                <a:solidFill>
                  <a:srgbClr val="B4B9B1"/>
                </a:solidFill>
                <a:latin typeface="Arial"/>
              </a:rPr>
              <a:t>פתחו את ה־hub, בחרו עולם ושחקו. המצגת וחבילת הסקילים נמצאות באותו repository.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572000"/>
            <a:ext cx="3474720" cy="685800"/>
          </a:xfrm>
          <a:prstGeom prst="rect">
            <a:avLst/>
          </a:prstGeom>
          <a:solidFill>
            <a:srgbClr val="D8F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690872"/>
            <a:ext cx="3200400" cy="42062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 lang="he-IL" rtl="1">
                <a:solidFill>
                  <a:srgbClr val="080A0C"/>
                </a:solidFill>
                <a:latin typeface="Arial"/>
              </a:rPr>
              <a:t>משחקים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4572000"/>
            <a:ext cx="3474720" cy="68580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4690872"/>
            <a:ext cx="3200400" cy="42062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 lang="he-IL" rtl="1">
                <a:solidFill>
                  <a:srgbClr val="F0F0E9"/>
                </a:solidFill>
                <a:latin typeface="Arial"/>
              </a:rPr>
              <a:t>חבילת הסקילים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4572000"/>
            <a:ext cx="3474720" cy="685800"/>
          </a:xfrm>
          <a:prstGeom prst="rect">
            <a:avLst/>
          </a:prstGeom>
          <a:solidFill>
            <a:srgbClr val="111616"/>
          </a:solidFill>
          <a:ln w="10160">
            <a:solidFill>
              <a:srgbClr val="39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4690872"/>
            <a:ext cx="3200400" cy="42062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 lang="he-IL" rtl="1">
                <a:solidFill>
                  <a:srgbClr val="F0F0E9"/>
                </a:solidFill>
                <a:latin typeface="Arial"/>
              </a:rPr>
              <a:t>מקור הסרטון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2194560" cy="32918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000" b="1" lang="he-IL" rtl="0">
                <a:solidFill>
                  <a:srgbClr val="D8FA55"/>
                </a:solidFill>
                <a:latin typeface="Menlo"/>
              </a:rPr>
              <a:t>03   LOW /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46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000" b="0" lang="he-IL" rtl="1">
                <a:solidFill>
                  <a:srgbClr val="D8FA55"/>
                </a:solidFill>
                <a:latin typeface="Menlo"/>
              </a:rPr>
              <a:t>מקור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094415" cy="10972"/>
          </a:xfrm>
          <a:prstGeom prst="rect">
            <a:avLst/>
          </a:prstGeom>
          <a:solidFill>
            <a:srgbClr val="39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2801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900" b="0" lang="he-IL" rtl="0">
                <a:solidFill>
                  <a:srgbClr val="B4B9B1"/>
                </a:solidFill>
                <a:latin typeface="Menlo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25880"/>
            <a:ext cx="4572000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800" b="1" lang="he-IL" rtl="1">
                <a:solidFill>
                  <a:srgbClr val="F0F0E9"/>
                </a:solidFill>
                <a:latin typeface="Arial"/>
              </a:rPr>
              <a:t>מה לקחנו מהסרטון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651760"/>
            <a:ext cx="4389120" cy="20116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0" lang="he-IL" rtl="1">
                <a:solidFill>
                  <a:srgbClr val="B4B9B1"/>
                </a:solidFill>
                <a:latin typeface="Arial"/>
              </a:rPr>
              <a:t>מיפוי תיקיות ונכסים, חיבור כלים, בדיקת משחק בצילום, פרסום ומשוב. הסרטון מתאר פרויקט מסוים של כארבע פניות וכשש שעות; זה דיווח היוצר ואינו התחייבות לזמן פיתוח.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5074920"/>
            <a:ext cx="4389120" cy="4114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0" lang="he-IL" rtl="1">
                <a:solidFill>
                  <a:srgbClr val="D8FA55"/>
                </a:solidFill>
                <a:latin typeface="Arial"/>
              </a:rPr>
              <a:t>Yuval Avidani · YUV.AI · 28.09.2026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698480" cy="3200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100" b="0" lang="he-IL" rtl="0">
                <a:solidFill>
                  <a:srgbClr val="8DF6EE"/>
                </a:solidFill>
                <a:latin typeface="Menlo"/>
              </a:rPr>
              <a:t>https://youtu.be/yhjouIJY6ko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/ ALT · שלושה משחקי תלת־ממד, hub אחד</dc:title>
  <dc:subject>Three browser 3D games and their skill pack</dc:subject>
  <dc:creator>Ariel Aizenshtat</dc:creator>
  <cp:keywords>Three.js, 3D games, browser game, Hebrew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